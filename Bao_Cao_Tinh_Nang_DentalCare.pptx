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300" b="1">
                <a:solidFill>
                  <a:srgbClr val="10B981"/>
                </a:solidFill>
              </a:defRPr>
            </a:pPr>
            <a:r>
              <a:t>ENTERPRISE HEALTHCARE PLATFORM &amp; AI COMMAND CENTER</a:t>
            </a:r>
          </a:p>
          <a:p>
            <a:pPr>
              <a:spcAft>
                <a:spcPts val="1600"/>
              </a:spcAft>
              <a:defRPr sz="3200" b="1">
                <a:solidFill>
                  <a:srgbClr val="FFFFFF"/>
                </a:solidFill>
              </a:defRPr>
            </a:pPr>
            <a:r>
              <a:t>BÁO CÁO TỔNG QUAN TÍNH NĂNG &amp; BÀN GIAO HỆ THỐNG DENTALCARE</a:t>
            </a:r>
          </a:p>
          <a:p>
            <a:pPr>
              <a:spcAft>
                <a:spcPts val="2800"/>
              </a:spcAft>
              <a:defRPr sz="1600">
                <a:solidFill>
                  <a:srgbClr val="CBD5E1"/>
                </a:solidFill>
              </a:defRPr>
            </a:pPr>
            <a:r>
              <a:t>Số hóa toàn diện quản trị phòng khám nha khoa, bệnh án điện tử EMR, cọc lịch hẹn Sandbox</a:t>
            </a:r>
            <a:br/>
            <a:r>
              <a:t>và vận hành đội ngũ kỹ thuật đa đặc vụ AI 24/7.</a:t>
            </a:r>
          </a:p>
          <a:p>
            <a:pPr>
              <a:defRPr sz="1200" i="1">
                <a:solidFill>
                  <a:srgbClr val="64748B"/>
                </a:solidFill>
              </a:defRPr>
            </a:pPr>
            <a:r>
              <a:t>Đơn vị phát triển: IT Solution Team  |  Khách hàng: Phòng Khám Nha Khoa DentalCare  |  09/2026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HỆ THỐNG NHA KHOA DENTALCARE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Kiến Trúc Tổng Thể &amp; Ngăn Xếp Công Nghệ (Tech Stack)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383280" cy="7315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Backend Y Khoa Mạnh Mẽ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•  Java 21 LTS + Spring Boot 3.2.5</a:t>
            </a:r>
          </a:p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•  Bảo mật đa tầng với Spring Security &amp; JWT</a:t>
            </a:r>
          </a:p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•  Cơ sở dữ liệu quan hệ H2 / PostgreSQL</a:t>
            </a:r>
          </a:p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•  WebSocket real-time đồng bộ lịch hẹn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63040"/>
            <a:ext cx="3383280" cy="7315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60020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Frontend &amp; Trải Nghiệm Khách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37744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•  Tailwind CSS v3 hiện đại, chuẩn Responsive</a:t>
            </a:r>
          </a:p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•  Vanilla JS tối ưu tốc độ tải trang &lt; 500ms</a:t>
            </a:r>
          </a:p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•  Hệ thống Toast Notification Stack mới</a:t>
            </a:r>
          </a:p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•  Cổng thông tin Management Portal đa phân hệ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463040"/>
            <a:ext cx="338328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160020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Trí Tuệ Nhân Tạo &amp; Hạ Tầng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37744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•  9Router Local AI Hub (combo_toc_do)</a:t>
            </a:r>
          </a:p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•  AI Copilot hỗ trợ tư vấn &amp; viết bài SEO</a:t>
            </a:r>
          </a:p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•  Cloudflare Zero Trust Tunnel (nhakhoadentalcare.id.vn)</a:t>
            </a:r>
          </a:p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•  Mã hóa SSL/TLS 1.3 và chống tấn công DDOS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HỆ THỐNG NHA KHOA DENTALCARE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Phân Hệ Đặt Lịch Hẹn Trực Tuyến &amp; Cọc Giữ Chỗ Sandbox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E7490"/>
                </a:solidFill>
              </a:defRPr>
            </a:pPr>
            <a:r>
              <a:t>1. Đặt Lịch Thông Minh 24/7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Khách hàng dễ dàng lựa chọn nha sĩ phụ trách, dịch vụ mong muốn (nhổ răng, niềng răng, bọc sứ...) và khung giờ còn trống trong ngày.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E7490"/>
                </a:solidFill>
              </a:defRPr>
            </a:pPr>
            <a:r>
              <a:t>2. Cổng Cọc Giữ Chỗ QR Sandbox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Tích hợp mã QR Sandbox minh bạch, giúp khách hàng đặt cọc trước để giữ ghế điều trị, hạn chế tối đa tình trạng hủy hẹn đột xuất.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02336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E7490"/>
                </a:solidFill>
              </a:defRPr>
            </a:pPr>
            <a:r>
              <a:t>3. Kiểm Soát Trùng Lịch Thời Gian Thực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Hệ thống tự động khóa khung giờ khi đã có bệnh nhân xác nhận, đảm bảo không bao giờ xảy ra tình trạng chồng chéo lịch khám của bác sĩ.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840480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02336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E7490"/>
                </a:solidFill>
              </a:defRPr>
            </a:pPr>
            <a:r>
              <a:t>4. Trải Nghiệm Thông Báo Mới (Fixed Overlap)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Nâng cấp hệ thống Toast Notification đa tầng: Các thông báo trạng thái xếp chồng trượt nhẹ nhàng, không bị đè che mất nội dung tương tác.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HỆ THỐNG NHA KHOA DENTALCARE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Hồ Sơ Bệnh Án Điện Tử (Smart Dental EMR) &amp; Điều Trị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★  Số Hóa Bệnh Án Toàn Diện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Quản lý toàn bộ lịch sử nha khoa của bệnh nhân: tình trạng sâu răng, nha chu, viêm tủy, kế hoạch cấy ghép Implant hay lộ trình niềng răng nhiều giai đoạn.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★  Quản Lý Phim X-Quang &amp; Hình Ảnh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Lưu trữ hình ảnh phim CT Cone Beam, X-quang cận chóp, ảnh trước/sau điều trị trực quan giúp khách hàng dễ dàng theo dõi tiến độ phục hồi.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02336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★  Theo Dõi Thanh Toán Liệu Trình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Tự động phân bổ chi phí theo từng đợt điều trị, tích hợp biên lai thu tiền rõ ràng, minh bạch tài chính giữa phòng khám và khách hàng.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840480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02336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★  Bảo Mật Dữ Liệu Y Tế (PII Masking)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Cơ chế bảo vệ thông tin cá nhân: Tự động mã hóa và che mờ các trường dữ liệu nhạy cảm (SĐT, CMND/CCCD) đối với nhân sự không đủ thẩm quyền.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HỆ THỐNG NHA KHOA DENTALCARE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Trung Tâm Điều Hành IT Team Đa Đặc Vụ (Command Center)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057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783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0E7490"/>
                </a:solidFill>
              </a:defRPr>
            </a:pPr>
            <a:r>
              <a:t>#it-backend</a:t>
            </a:r>
          </a:p>
          <a:p>
            <a:pPr algn="ctr">
              <a:spcAft>
                <a:spcPts val="1600"/>
              </a:spcAft>
              <a:defRPr sz="1200" b="1">
                <a:solidFill>
                  <a:srgbClr val="1E293B"/>
                </a:solidFill>
              </a:defRPr>
            </a:pPr>
            <a:r>
              <a:t>Spring Boot &amp; APIs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Giám sát sức khỏe API, kết nối cơ sở dữ liệu, đảm bảo tốc độ phản hồi &lt; 100ms.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1" y="1463040"/>
            <a:ext cx="2057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1" y="1737360"/>
            <a:ext cx="1783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0E7490"/>
                </a:solidFill>
              </a:defRPr>
            </a:pPr>
            <a:r>
              <a:t>#it-frontend</a:t>
            </a:r>
          </a:p>
          <a:p>
            <a:pPr algn="ctr">
              <a:spcAft>
                <a:spcPts val="1600"/>
              </a:spcAft>
              <a:defRPr sz="1200" b="1">
                <a:solidFill>
                  <a:srgbClr val="1E293B"/>
                </a:solidFill>
              </a:defRPr>
            </a:pPr>
            <a:r>
              <a:t>Portal UI &amp; UX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Tối ưu hóa giao diện phòng khám, đồng bộ bảng điều khiển và sửa các lỗi hiển thị kịp thời.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1463040"/>
            <a:ext cx="2057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21224" y="1737360"/>
            <a:ext cx="1783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0E7490"/>
                </a:solidFill>
              </a:defRPr>
            </a:pPr>
            <a:r>
              <a:t>#it-qa</a:t>
            </a:r>
          </a:p>
          <a:p>
            <a:pPr algn="ctr">
              <a:spcAft>
                <a:spcPts val="1600"/>
              </a:spcAft>
              <a:defRPr sz="1200" b="1">
                <a:solidFill>
                  <a:srgbClr val="1E293B"/>
                </a:solidFill>
              </a:defRPr>
            </a:pPr>
            <a:r>
              <a:t>Kiểm Thử &amp; Hồi Quy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Tự động chạy các kịch bản test API, kiểm tra phân quyền RBAC và luồng đặt lịch.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0336" y="1463040"/>
            <a:ext cx="2057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97496" y="1737360"/>
            <a:ext cx="1783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0E7490"/>
                </a:solidFill>
              </a:defRPr>
            </a:pPr>
            <a:r>
              <a:t>#it-devops</a:t>
            </a:r>
          </a:p>
          <a:p>
            <a:pPr algn="ctr">
              <a:spcAft>
                <a:spcPts val="1600"/>
              </a:spcAft>
              <a:defRPr sz="1200" b="1">
                <a:solidFill>
                  <a:srgbClr val="1E293B"/>
                </a:solidFill>
              </a:defRPr>
            </a:pPr>
            <a:r>
              <a:t>Hạ Tầng &amp; Uptime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Duy trì máy chủ vận hành liên tục, theo dõi nhật ký log và giám sát Cloudflare Tunnel.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36608" y="1463040"/>
            <a:ext cx="2057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73768" y="1737360"/>
            <a:ext cx="1783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0E7490"/>
                </a:solidFill>
              </a:defRPr>
            </a:pPr>
            <a:r>
              <a:t>#it-security</a:t>
            </a:r>
          </a:p>
          <a:p>
            <a:pPr algn="ctr">
              <a:spcAft>
                <a:spcPts val="1600"/>
              </a:spcAft>
              <a:defRPr sz="1200" b="1">
                <a:solidFill>
                  <a:srgbClr val="1E293B"/>
                </a:solidFill>
              </a:defRPr>
            </a:pPr>
            <a:r>
              <a:t>An Toàn &amp; Bảo Mật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Chống tấn công SSRF, che mờ dữ liệu nhạy cảm PII và ghi log audit toàn diện.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HỆ THỐNG NHA KHOA DENTALCARE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Bảo Mật Y Khoa &amp; Chống Rò Rỉ Dữ Liệu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E7490"/>
                </a:solidFill>
              </a:defRPr>
            </a:pPr>
            <a:r>
              <a:t>Sensitive Data Sanitizer</a:t>
            </a:r>
          </a:p>
          <a:p>
            <a:pPr>
              <a:spcAft>
                <a:spcPts val="1400"/>
              </a:spcAft>
              <a:defRPr sz="1100" b="1">
                <a:solidFill>
                  <a:srgbClr val="10B981"/>
                </a:solidFill>
              </a:defRPr>
            </a:pPr>
            <a:r>
              <a:t>Cơ Chế Bảo Vệ Dữ Liệu Bệnh Nhân</a:t>
            </a:r>
          </a:p>
          <a:p>
            <a:pPr>
              <a:spcAft>
                <a:spcPts val="1200"/>
              </a:spcAft>
              <a:defRPr sz="1200">
                <a:solidFill>
                  <a:srgbClr val="1E293B"/>
                </a:solidFill>
              </a:defRPr>
            </a:pPr>
            <a:r>
              <a:t>✔  Tự động rà soát loại bỏ mật khẩu thô và Bearer Token khỏi Activity Log.</a:t>
            </a:r>
          </a:p>
          <a:p>
            <a:pPr>
              <a:spcAft>
                <a:spcPts val="1200"/>
              </a:spcAft>
              <a:defRPr sz="1200">
                <a:solidFill>
                  <a:srgbClr val="1E293B"/>
                </a:solidFill>
              </a:defRPr>
            </a:pPr>
            <a:r>
              <a:t>✔  Không lưu trữ dữ liệu y tế nhạy cảm vào bộ nhớ tạm không được mã hóa.</a:t>
            </a:r>
          </a:p>
          <a:p>
            <a:pPr>
              <a:spcAft>
                <a:spcPts val="1200"/>
              </a:spcAft>
              <a:defRPr sz="1200">
                <a:solidFill>
                  <a:srgbClr val="1E293B"/>
                </a:solidFill>
              </a:defRPr>
            </a:pPr>
            <a:r>
              <a:t>✔  Bảo đảm tuân thủ các quy định bảo mật hồ sơ sức khỏe điện tử.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73736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E7490"/>
                </a:solidFill>
              </a:defRPr>
            </a:pPr>
            <a:r>
              <a:t>SSRF Defense Firewall</a:t>
            </a:r>
          </a:p>
          <a:p>
            <a:pPr>
              <a:spcAft>
                <a:spcPts val="1400"/>
              </a:spcAft>
              <a:defRPr sz="1100" b="1">
                <a:solidFill>
                  <a:srgbClr val="10B981"/>
                </a:solidFill>
              </a:defRPr>
            </a:pPr>
            <a:r>
              <a:t>Tường Lửa Chống Tấn Công Nội Bộ</a:t>
            </a:r>
          </a:p>
          <a:p>
            <a:pPr>
              <a:spcAft>
                <a:spcPts val="1200"/>
              </a:spcAft>
              <a:defRPr sz="1200">
                <a:solidFill>
                  <a:srgbClr val="1E293B"/>
                </a:solidFill>
              </a:defRPr>
            </a:pPr>
            <a:r>
              <a:t>✔  Kiểm duyệt nghiêm ngặt URL đầu vào của bộ chạy thử nghiệm API nội bộ.</a:t>
            </a:r>
          </a:p>
          <a:p>
            <a:pPr>
              <a:spcAft>
                <a:spcPts val="1200"/>
              </a:spcAft>
              <a:defRPr sz="1200">
                <a:solidFill>
                  <a:srgbClr val="1E293B"/>
                </a:solidFill>
              </a:defRPr>
            </a:pPr>
            <a:r>
              <a:t>✔  Chặn đứng mọi nỗ lực scan port, truy vấn IP riêng tư hoặc siêu dữ liệu đám mây.</a:t>
            </a:r>
          </a:p>
          <a:p>
            <a:pPr>
              <a:spcAft>
                <a:spcPts val="1200"/>
              </a:spcAft>
              <a:defRPr sz="1200">
                <a:solidFill>
                  <a:srgbClr val="1E293B"/>
                </a:solidFill>
              </a:defRPr>
            </a:pPr>
            <a:r>
              <a:t>✔  Bảo vệ 100% tài nguyên mạng nội bộ phòng khám trước nguy cơ xâm nhập.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73736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E7490"/>
                </a:solidFill>
              </a:defRPr>
            </a:pPr>
            <a:r>
              <a:t>RBAC 2-Tier Architecture</a:t>
            </a:r>
          </a:p>
          <a:p>
            <a:pPr>
              <a:spcAft>
                <a:spcPts val="1400"/>
              </a:spcAft>
              <a:defRPr sz="1100" b="1">
                <a:solidFill>
                  <a:srgbClr val="10B981"/>
                </a:solidFill>
              </a:defRPr>
            </a:pPr>
            <a:r>
              <a:t>Kiểm Soát Phân Quyền 2 Tầng</a:t>
            </a:r>
          </a:p>
          <a:p>
            <a:pPr>
              <a:spcAft>
                <a:spcPts val="1200"/>
              </a:spcAft>
              <a:defRPr sz="1200">
                <a:solidFill>
                  <a:srgbClr val="1E293B"/>
                </a:solidFill>
              </a:defRPr>
            </a:pPr>
            <a:r>
              <a:t>✔  Tầng 1: Spring Security JWT Gateway lọc quyền hạn ngay tại Controller.</a:t>
            </a:r>
          </a:p>
          <a:p>
            <a:pPr>
              <a:spcAft>
                <a:spcPts val="1200"/>
              </a:spcAft>
              <a:defRPr sz="1200">
                <a:solidFill>
                  <a:srgbClr val="1E293B"/>
                </a:solidFill>
              </a:defRPr>
            </a:pPr>
            <a:r>
              <a:t>✔  Tầng 2: Service Layer xác thực danh tính chủ sở hữu bệnh án.</a:t>
            </a:r>
          </a:p>
          <a:p>
            <a:pPr>
              <a:spcAft>
                <a:spcPts val="1200"/>
              </a:spcAft>
              <a:defRPr sz="1200">
                <a:solidFill>
                  <a:srgbClr val="1E293B"/>
                </a:solidFill>
              </a:defRPr>
            </a:pPr>
            <a:r>
              <a:t>✔  Bảo đảm bác sĩ chỉ truy cập bệnh nhân phụ trách, khách hàng chỉ thấy lịch của mình.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HỆ THỐNG NHA KHOA DENTALCARE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Kết Quả Kiểm Thử Toàn Diện &amp; Kế Hoạch Bàn Giao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E7490"/>
                </a:solidFill>
              </a:defRPr>
            </a:pPr>
            <a:r>
              <a:t>KẾT QUẢ KIỂM THỬ HỆ THỐNG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✔ Toast Overlap Fix: Đã giải quyết 100%, thông báo xếp chồng mượt mà.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✔ Phân Quyền RBAC: ADMIN, DOCTOR, PATIENT truy cập chuẩn xác.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✔ Đặt Lịch &amp; Cọc Sandbox: Giao dịch phản hồi tức thì, không trùng lặp.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✔ Bệnh Án Điện Tử EMR: Lưu trữ và xuất hồ sơ bệnh nhân chuẩn xác.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✔ IT Team Command Center: Vận hành 5 đặc vụ &amp; AI Copilot ổn định.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✔ Cloudflare Zero Trust: Bảo mật kết nối SSL TLS 1.3 qua Internet.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0B981"/>
                </a:solidFill>
              </a:defRPr>
            </a:pPr>
            <a:r>
              <a:t>CỔNG TRUY CẬP &amp; BÀN GIAO KHÁCH HÀNG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📌 Tên Miền Public Khách Hàng: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    https://nhakhoadentalcare.id.vn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📌 Cổng Quản Trị Cục Bộ (Local):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    http://localhost:8080/management.html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📌 Trung Tâm IT Team: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    Tab 'IT Team' trên Menu Quản Trị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📌 Tài Khoản Quản Trị Viên: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    Tên đăng nhập: admin  |  Mật khẩu: admin123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📌 Tài Liệu Bàn Giao Chi Tiết: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    File Word: Bao_Cao_Ban_Giao_DentalCare.docx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📌 Cam Kết Hỗ Trợ Kỹ Thuật: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    Hỗ trợ 24/7, khắc phục sự cố tức thì.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3200" b="1">
                <a:solidFill>
                  <a:srgbClr val="FFFFFF"/>
                </a:solidFill>
              </a:defRPr>
            </a:pPr>
            <a:r>
              <a:t>XIN TRÂN TRỌNG CẢM ƠN QUÝ KHÁCH HÀNG!</a:t>
            </a:r>
          </a:p>
          <a:p>
            <a:pPr algn="ctr">
              <a:spcAft>
                <a:spcPts val="2400"/>
              </a:spcAft>
              <a:defRPr sz="1800">
                <a:solidFill>
                  <a:srgbClr val="10B981"/>
                </a:solidFill>
              </a:defRPr>
            </a:pPr>
            <a:r>
              <a:t>Hệ Thống Quản Lý Nha Khoa DentalCare Đã Sẵn Sàng Vận Hành Chính Thức.</a:t>
            </a:r>
          </a:p>
          <a:p>
            <a:pPr algn="ctr">
              <a:defRPr sz="1300" i="1">
                <a:solidFill>
                  <a:srgbClr val="94A3B8"/>
                </a:solidFill>
              </a:defRPr>
            </a:pPr>
            <a:r>
              <a:t>Hotline Hỗ Trợ Kỹ Thuật: 1900-DENTALCARE  |  Website: nhakhoadentalcare.id.vn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